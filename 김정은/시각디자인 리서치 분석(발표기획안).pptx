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embeddedFontLst>
    <p:embeddedFont>
      <p:font typeface="Inter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xmlns="" Id="rId22" Type="http://schemas.openxmlformats.org/officeDocument/2006/relationships/font" Target="fonts/rId2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oodtoday.or.kr/news/article.html?no=20446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4325" y="1885950"/>
            <a:ext cx="85105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현대인 맞춤형 고기능성 올인원 데스크 푸드 </a:t>
            </a:r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3D38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‘그릭오’ (GREEK O)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319088" y="3128963"/>
            <a:ext cx="85058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GREEK O(그릭오)는 100% 락토프리 및 무가당 성분 설계로 공복 소화 부담과 혈당 스파이크를 차단하고, </a:t>
            </a:r>
            <a:endParaRPr lang="en-US" sz="1283" dirty="0"/>
          </a:p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와이드 이지컷 스탠딩 파우치와 빌트인 스푼 구조를 통해 30초 만에 설거지 없이 취식을 끝내는 </a:t>
            </a:r>
            <a:endParaRPr lang="en-US" sz="1283" dirty="0"/>
          </a:p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3D38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'현대인 맞춤형 고기능성 올인원(All-in-One) 데스크 푸드'</a:t>
            </a:r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C8CE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브랜드입니다.</a:t>
            </a:r>
            <a:endParaRPr lang="en-US" sz="12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67013" y="747713"/>
            <a:ext cx="382428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왜 지금, 그릭오가 시장에 나와야 할까요? 
</a:t>
            </a:r>
            <a:endParaRPr lang="en-US" sz="1710" dirty="0"/>
          </a:p>
          <a:p>
            <a:pPr algn="ctr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데이터와 업계의 성공 사례가 그 당위성을 증명합니다.</a:t>
            </a:r>
            <a:endParaRPr lang="en-US" sz="1710" dirty="0"/>
          </a:p>
        </p:txBody>
      </p:sp>
      <p:sp>
        <p:nvSpPr>
          <p:cNvPr id="3" name="Text 1"/>
          <p:cNvSpPr/>
          <p:nvPr/>
        </p:nvSpPr>
        <p:spPr>
          <a:xfrm>
            <a:off x="195263" y="1885950"/>
            <a:ext cx="4305300" cy="339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“간식에서 한 끼로”…그릭요거트, 발효유 시장 2조 시대 이끈다  </a:t>
            </a:r>
            <a:endParaRPr lang="en-US" sz="1140" dirty="0"/>
          </a:p>
          <a:p>
            <a:pPr algn="l" indent="0" marL="0">
              <a:lnSpc>
                <a:spcPts val="798"/>
              </a:lnSpc>
              <a:buNone/>
            </a:pPr>
            <a:r>
              <a:rPr lang="en-US" sz="570" spc="-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링크주소: </a:t>
            </a:r>
            <a:pPr algn="l" indent="0" marL="0">
              <a:lnSpc>
                <a:spcPts val="798"/>
              </a:lnSpc>
              <a:buNone/>
            </a:pPr>
            <a:r>
              <a:rPr lang="en-US" sz="570" u="sng" spc="-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https://www.foodtoday.or.kr/news/article.html?no=204469</a:t>
            </a:r>
            <a:endParaRPr lang="en-US" sz="1140" dirty="0"/>
          </a:p>
          <a:p>
            <a:pPr algn="l" indent="0" marL="0">
              <a:lnSpc>
                <a:spcPts val="798"/>
              </a:lnSpc>
              <a:buNone/>
            </a:pPr>
            <a:r>
              <a:rPr lang="en-US" sz="570" spc="-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국내 발효유 시장이 '프리미엄 건강식' 중심으로 빠르게 재편되고 있다. 과거 장 건강을 위한 기능성 식품에 머물렀던 발효유가 이제는 단백질 공급, 식사 대용, 디저트 활용까지 아우르는 ‘멀티 식품’으로 진화하는 흐름이다.</a:t>
            </a:r>
            <a:endParaRPr lang="en-US" sz="1140" dirty="0"/>
          </a:p>
          <a:p>
            <a:pPr algn="l" indent="0" marL="0">
              <a:lnSpc>
                <a:spcPts val="798"/>
              </a:lnSpc>
              <a:buNone/>
            </a:pPr>
            <a:r>
              <a:rPr lang="en-US" sz="570" spc="-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특히 그릭요거트를 중심으로 저당·고단백·락토프리 제품이 잇따라 출시되며, ‘헬시 플레저(Healthy Pleasure)’와 ‘초개인화 웰니스’ 소비 트렌드를 정면으로 반영하고 있다는 분석이다.</a:t>
            </a:r>
            <a:endParaRPr lang="en-US" sz="1140" dirty="0"/>
          </a:p>
          <a:p>
            <a:pPr algn="l" indent="0" marL="0">
              <a:lnSpc>
                <a:spcPts val="798"/>
              </a:lnSpc>
              <a:buNone/>
            </a:pPr>
            <a:r>
              <a:rPr lang="en-US" sz="570" spc="-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시장 규모 역시 꾸준히 확대되고 있다. 4일 시장조사기관 유로모니터에 따르면 국내 발효유 시장 규모는 2018년 1조 8,015억 원에서 2025년 2조 1,152억 원으로 전망된다. </a:t>
            </a:r>
            <a:endParaRPr lang="en-US" sz="1140" dirty="0"/>
          </a:p>
          <a:p>
            <a:pPr algn="l" indent="0" marL="0">
              <a:lnSpc>
                <a:spcPts val="798"/>
              </a:lnSpc>
              <a:buNone/>
            </a:pPr>
            <a:r>
              <a:rPr lang="en-US" sz="570" spc="-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글로벌 그릭요거트 시장 또한 2030년까지 연평균 8.2% 성장할 것으로 예측되면서 국내 유업계의 제품 경쟁도 한층 치열해지고 있다.</a:t>
            </a:r>
            <a:endParaRPr lang="en-US" sz="1140" dirty="0"/>
          </a:p>
          <a:p>
            <a:pPr algn="l" indent="0" marL="0">
              <a:lnSpc>
                <a:spcPts val="798"/>
              </a:lnSpc>
              <a:buNone/>
            </a:pPr>
            <a:r>
              <a:rPr lang="en-US" sz="713" b="1" spc="-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그릭요거트, ‘매니아 식품’에서 ‘대중 식사’로</a:t>
            </a:r>
            <a:endParaRPr lang="en-US" sz="1140" dirty="0"/>
          </a:p>
          <a:p>
            <a:pPr algn="l" indent="0" marL="0">
              <a:lnSpc>
                <a:spcPts val="798"/>
              </a:lnSpc>
              <a:buNone/>
            </a:pPr>
            <a:r>
              <a:rPr lang="en-US" sz="570" spc="-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최근 발효유 시장의 중심에는 단연 그릭요거트가 자리 잡고 있다. 한때 일부 소비층의 '건강식'에 머물렀던 제품이 이제는 식사 대용식과 건강 간식으로 확장되며 시장의 메인 카테고리로 부상했다.</a:t>
            </a:r>
            <a:endParaRPr lang="en-US" sz="1140" dirty="0"/>
          </a:p>
          <a:p>
            <a:pPr algn="l" indent="0" marL="0">
              <a:lnSpc>
                <a:spcPts val="798"/>
              </a:lnSpc>
              <a:buNone/>
            </a:pPr>
            <a:r>
              <a:rPr lang="en-US" sz="570" spc="-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같은 변화는 '꾸덕한 식감'과 '고단백 설계'라는 차별화된 제품 경험에서 비롯됐다. 단순히 간식이 아닌 '한 끼'로 인식되면서 소비 저변이 빠르게 확대되고 있는 것이다.</a:t>
            </a:r>
            <a:endParaRPr lang="en-US" sz="1140" dirty="0"/>
          </a:p>
          <a:p>
            <a:pPr algn="l" indent="0" marL="0">
              <a:lnSpc>
                <a:spcPts val="798"/>
              </a:lnSpc>
              <a:buNone/>
            </a:pPr>
            <a:r>
              <a:rPr lang="en-US" sz="570" b="1" spc="-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[사례1]</a:t>
            </a:r>
            <a:endParaRPr lang="en-US" sz="1140" dirty="0"/>
          </a:p>
          <a:p>
            <a:pPr algn="l" indent="0" marL="0">
              <a:lnSpc>
                <a:spcPts val="798"/>
              </a:lnSpc>
              <a:buNone/>
            </a:pPr>
            <a:r>
              <a:rPr lang="en-US" sz="570" spc="-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서울우유협동조합의 '더 진한' 브랜드는 이러한 흐름을 상징적으로 보여준다. 올해 1월 기준 누적 판매량은 4억 5000만개를 돌파했으며, 특히 그릭요거트 판매량은 전년 대비 273% 증가하며 전체 발효유 카테고리 성장까지 경인했다.</a:t>
            </a:r>
            <a:endParaRPr lang="en-US" sz="1140" dirty="0"/>
          </a:p>
          <a:p>
            <a:pPr algn="l" indent="0" marL="0">
              <a:lnSpc>
                <a:spcPts val="798"/>
              </a:lnSpc>
              <a:buNone/>
            </a:pPr>
            <a:r>
              <a:rPr lang="en-US" sz="570" b="1" spc="-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[사례2]</a:t>
            </a:r>
            <a:endParaRPr lang="en-US" sz="1140" dirty="0"/>
          </a:p>
          <a:p>
            <a:pPr algn="l" indent="0" marL="0">
              <a:lnSpc>
                <a:spcPts val="798"/>
              </a:lnSpc>
              <a:buNone/>
            </a:pPr>
            <a:r>
              <a:rPr lang="en-US" sz="570" spc="-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풀무원다논 역시 '풀무원요거트 그릭'을 통해 올해 3월 기준 누적 판매 5억 개를 돌파하며 시장 리더십을 강화하고 있다. 우유 대비 약 2.1배 높은 단백질과 그리스 크레타섬 유래 정통 유산균을 기반으로 한 제품력, 그리고 기본·프리미엄·디저트 라인업까지 확장한 포트폴리오 전략이 성장을 견인했다.</a:t>
            </a:r>
            <a:endParaRPr lang="en-US" sz="1140" dirty="0"/>
          </a:p>
          <a:p>
            <a:pPr algn="l" indent="0" marL="0">
              <a:lnSpc>
                <a:spcPts val="798"/>
              </a:lnSpc>
              <a:buNone/>
            </a:pPr>
            <a:r>
              <a:rPr lang="en-US" sz="570" b="1" spc="-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[사례3]</a:t>
            </a:r>
            <a:pPr algn="l" indent="0" marL="0">
              <a:lnSpc>
                <a:spcPts val="798"/>
              </a:lnSpc>
              <a:buNone/>
            </a:pPr>
            <a:r>
              <a:rPr lang="en-US" sz="570" b="1" spc="-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</a:t>
            </a:r>
            <a:endParaRPr lang="en-US" sz="1140" dirty="0"/>
          </a:p>
          <a:p>
            <a:pPr algn="l" indent="0" marL="0">
              <a:lnSpc>
                <a:spcPts val="798"/>
              </a:lnSpc>
              <a:buNone/>
            </a:pPr>
            <a:r>
              <a:rPr lang="en-US" sz="570" spc="-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일동후디스는 국내 최초로 그릭요거트를 선보인 저력을 바탕으로 ‘홈메이드 방식’ 정체성을 강화한 리뉴얼을 통해 차별화를 꾀하고 있다. 원재료 중심 설계와 전통 공법을 강조하며 ‘오리지널 그릭요거트’ 시장을 공략하는 전략이다.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4681538" y="1885950"/>
            <a:ext cx="4219575" cy="2671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713" b="1" spc="-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“떠먹는 한계 넘었다”…드링크형으로 확장되는 소비</a:t>
            </a:r>
            <a:endParaRPr lang="en-US" sz="71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570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그릭요거트는 제형 혁신을 통해 소비 접점을 더욱 넓히고 있다. ‘떠먹는 제품’에서 ‘마시는 제품’으로 확장되며 시간과 장소의 제약을 줄인 것이 핵심이다.</a:t>
            </a:r>
            <a:endParaRPr lang="en-US" sz="71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570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</a:t>
            </a:r>
            <a:endParaRPr lang="en-US" sz="71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570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매일유업 ‘매일 바이오 그릭요거트 드링크’는 별도의 스푼 없이 간편하게 마실 수 있도록 제형을 설계해 출근길이나 운동 전후 등 다양한 상황에서 간편한 식사 대용식으로 활용도를 높였다. 특히 LGG 유산균과 함께 한 병당 최대 7.3g의 단백질, 아연을 더해 영양 균형까지 고려했다.</a:t>
            </a:r>
            <a:endParaRPr lang="en-US" sz="71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570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</a:t>
            </a:r>
            <a:endParaRPr lang="en-US" sz="71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570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hy의 ‘슈퍼100 그릭드링크’ 역시 간편 섭취가 가능한 드링크형 제품에 기능성을 더한 사례다. 설탕·감미료·착향료를 배제한 ‘클린 설계’를 적용하고, 400억 CFU 유산균에 단백질과 식이섬유를 함께 담아 ‘한 병으로 완성하는 올인원 케어’를 강조했다.</a:t>
            </a:r>
            <a:endParaRPr lang="en-US" sz="71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71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‘저당’을 넘어 ‘무당·대체당’으로</a:t>
            </a:r>
            <a:endParaRPr lang="en-US" sz="71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570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당류 저감은 이제 발효유 시장의 기본 전략으로 자리 잡았다. 최근에는 단순 저감 수준을 넘어 설탕을 배제하거나 대체당을 활용하는 방향으로 빠르게 진화하고 있다. </a:t>
            </a:r>
            <a:endParaRPr lang="en-US" sz="71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570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서울우유는 최근 대체당 '알룰로스'를 적용한 ‘더 진한 알룰로스 그릭요거트’를 출시하며 칼로리와 당 부담을 동시에 낮췄다. 별도의 토핑 없이도 단맛을 구현해 ‘간편하면서도 건강한 디저트’ 수요를 공략하고 있다. </a:t>
            </a:r>
            <a:endParaRPr lang="en-US" sz="71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570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풀무원다논의 '액티비아'는 당 함량을 기존 대비 30% 낮추는 리뉴얼을 단행했으며, 매일유업과 일동후디스 역시 무가당·무감미료 제품군을 확대하며 ‘클린 라벨’ 경쟁에 속도를 내고 있다.</a:t>
            </a:r>
            <a:endParaRPr lang="en-US" sz="71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570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</a:t>
            </a:r>
            <a:endParaRPr lang="en-US" sz="71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71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단백질·유산균·식이섬유…‘올인원 기능식’ 경쟁</a:t>
            </a:r>
            <a:endParaRPr lang="en-US" sz="71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570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제품 기능성 역시 빠르게 고도화되고 있다. 유산균 중심의 기존 구조에서 벗어나 단백질, 아미노산, 미네랄 등을 결합한 ‘올인원 영양식’으로 진화하는 흐름이다.</a:t>
            </a:r>
            <a:endParaRPr lang="en-US" sz="71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570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풀무원다논의 '요프로(YoPRO)'는 한 컵에 단백질 15g을 담아 출시 2개월 만에 100만 개 판매를 돌파하며 운동·헬스 소비층을 빠르게 흡수했다. 락토프리와 설탕무첨가 설계로 기능성과 접근성을 동시에 확보한 것이 특징이다.</a:t>
            </a:r>
            <a:endParaRPr lang="en-US" sz="71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570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업계 관계자는 "현재 발효유 시장은 단순히 유산균 섭취를 넘어 단백질 공급원, 식사 대용식, 홈메이드 디저트 재료 등으로 그 역할이 확장되고 있다"며, "앞으로도 고품질 원유 경쟁력을 기반으로 한 기능성 강화와 용량 다변화가 시장 성장을 견인할 것"이라고 전망했다</a:t>
            </a:r>
            <a:endParaRPr lang="en-US" sz="71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247775"/>
            <a:ext cx="3800475" cy="264795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247775"/>
            <a:ext cx="38004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시장 성장 가능성</a:t>
            </a:r>
            <a:endParaRPr lang="en-US" sz="171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(Market Analysis)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1914525"/>
            <a:ext cx="3800475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시장 양적 팽창: 국내 발효유 시장은 </a:t>
            </a:r>
            <a:pPr algn="l" indent="0" marL="0">
              <a:lnSpc>
                <a:spcPts val="1146"/>
              </a:lnSpc>
              <a:buNone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2018년 1조 8,015억 원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에서 </a:t>
            </a:r>
            <a:pPr algn="l" indent="0" marL="0">
              <a:lnSpc>
                <a:spcPts val="1146"/>
              </a:lnSpc>
              <a:buNone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2025년 2조 1,152억 원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규모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 견조한 성장을 지속 중이며, </a:t>
            </a:r>
            <a:endParaRPr lang="en-US" sz="855" dirty="0"/>
          </a:p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글로벌 그릭요거트 시장 역시 </a:t>
            </a:r>
            <a:pPr algn="l" indent="0" marL="0">
              <a:lnSpc>
                <a:spcPts val="1146"/>
              </a:lnSpc>
              <a:buNone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2030년까지 연평균 8.2%의 고성장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전망됩니다. </a:t>
            </a:r>
            <a:endParaRPr lang="en-US" sz="855" dirty="0"/>
          </a:p>
          <a:p>
            <a:pPr algn="l" indent="0" marL="0">
              <a:lnSpc>
                <a:spcPts val="1146"/>
              </a:lnSpc>
              <a:buNone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안 뛰어들 수 없는 매력적인 메가 마켓입니다.
</a:t>
            </a:r>
            <a:endParaRPr lang="en-US" sz="855" dirty="0"/>
          </a:p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소비 패러다임의 전환 (Niche Market의 폭발): 전체 흰우유 시장의 역성장 추세와 달리, 한국인 80%가 겪는 유당불내증을 겨냥한</a:t>
            </a:r>
            <a:pPr algn="l" indent="0" marL="0">
              <a:lnSpc>
                <a:spcPts val="1146"/>
              </a:lnSpc>
              <a:buNone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'락토프리 유제품 시장'은 최근 5년간 연평균 8%씩 급성장 중입니다. </a:t>
            </a:r>
            <a:endParaRPr lang="en-US" sz="855" dirty="0"/>
          </a:p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또한 국내 단백질 식품 시장(2026년 8,000억 원 전망) 및 저당 식품 시장의 가파른 팽창은 맛과 건강을 동시에 추구하는 '헬시 플레저' 수요가 유업계의 '뉴 노멀(New Normal)'로 안착했음을 증명하고 있습니다.
</a:t>
            </a:r>
            <a:endParaRPr lang="en-US" sz="85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48238" y="1543050"/>
            <a:ext cx="3843338" cy="22336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09600"/>
            <a:ext cx="7239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타깃 분석 (Target Persona)</a:t>
            </a:r>
            <a:endParaRPr lang="en-US" sz="1710" dirty="0"/>
          </a:p>
        </p:txBody>
      </p:sp>
      <p:sp>
        <p:nvSpPr>
          <p:cNvPr id="3" name="Text 1"/>
          <p:cNvSpPr/>
          <p:nvPr/>
        </p:nvSpPr>
        <p:spPr>
          <a:xfrm>
            <a:off x="242888" y="1481138"/>
            <a:ext cx="865822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타깃: 극단적인 '시간 빈곤(Time Poverty)'을 겪으면서도 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삶의 질과 건강 관리를 포기하지 않는 2030 직장인 및 대학생·취준생 ('바쁜 아침 갓생족')
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세부 니즈 및 행동 패턴:
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2030 직장인: 스트레스 및 시간 부족으로 공복 출근 후 데스크에서 취식할 수 있는 고밀도 브레인 푸드를 원함. 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예민해진 위벽에 무리를 주지 않는 낮은 산미와 점심시간까지 버텨줄 물리적 포만감(#속_편한_아침)을 갈망함.
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2030 학생·취준생: 반복되는 일상 속에서 건강한 식단을 챙기는 행위 자체를 일종의 힐링 문화이자 스몰 럭셔리로 소비함. 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토핑 본연의 맛을 해치지 않으면서 치즈처럼 꾸덕한 질감의 트렌디한 미식 경험을 요구함.
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소비 경로 특성: 출근 및 등교길 이동 중이나 모니터 앞에서 10분 내 해결 가능한 '그랩앤고(Grab &amp; Go)' 형태를 선호하며, 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시간 효율성을 극대화하기 위해 새벽배송 대량 구매나 제조사 공식 직영몰의 '정기 구독' 서비스 이용 의향이 매우 높음.</a:t>
            </a:r>
            <a:endParaRPr lang="en-US" sz="12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기존 브랜드 문제 정의 (Pain Point)
</a:t>
            </a:r>
            <a:endParaRPr lang="en-US" sz="1710" dirty="0"/>
          </a:p>
        </p:txBody>
      </p:sp>
      <p:sp>
        <p:nvSpPr>
          <p:cNvPr id="3" name="Text 1"/>
          <p:cNvSpPr/>
          <p:nvPr/>
        </p:nvSpPr>
        <p:spPr>
          <a:xfrm>
            <a:off x="395288" y="1481138"/>
            <a:ext cx="8348663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취식 환경의 극단적 제약 (TPO 장벽): 기존 프리미엄 그릭요거트는 플라스틱 컵/단지 형태로 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반드시 별도의 스푼이 필요하며 </a:t>
            </a:r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3D38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이동 중 취식이 불가능</a:t>
            </a:r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합니다. 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취식 후 부피가 큰 플라스틱 용기와 스푼 등 </a:t>
            </a:r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3D38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복합 재질 쓰레기가 발생</a:t>
            </a:r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하여 데스크(사무실/강의실) 및 아웃도어 환경에서 폐기 편의성이 극도로 저하되어있습니다.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성분과 편의성의 모순 (DIY 번거로움): 시장 내 '플레인' 제품은 극단적 산미로 인해 </a:t>
            </a:r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3D38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소비자가 직접 과일이나 견과류를 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3D38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추가 조립(DIY)해야 하는 번거로움</a:t>
            </a:r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있습니다. 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반면, 시판 과일 요거트는 </a:t>
            </a:r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3D38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대중성을 위해 액상과당과 인공향료를 과다 첨가</a:t>
            </a:r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하여 '식단 관리 및 건강식'으로서의 본질적 기능성을 상실한 상태입니다. 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즉, [고단백·저당 성분의 무결성]과 [테이크아웃 취식의 편의성]을 동시에 충족하는 </a:t>
            </a:r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3D38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올인원 대안재가 부재합니다.</a:t>
            </a:r>
            <a:endParaRPr lang="en-US" sz="128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4738" y="933450"/>
            <a:ext cx="4919663" cy="32766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3614738" y="933450"/>
            <a:ext cx="4919663" cy="327660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614738" y="933450"/>
            <a:ext cx="3271838" cy="3276600"/>
          </a:xfrm>
          <a:prstGeom prst="ellipse">
            <a:avLst/>
          </a:prstGeom>
          <a:solidFill>
            <a:srgbClr val="FFFFFF"/>
          </a:solidFill>
          <a:ln w="18097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62563" y="933450"/>
            <a:ext cx="3271838" cy="3276600"/>
          </a:xfrm>
          <a:prstGeom prst="ellipse">
            <a:avLst/>
          </a:prstGeom>
          <a:solidFill>
            <a:srgbClr val="000000"/>
          </a:solidFill>
          <a:ln w="18097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62563" y="1156091"/>
            <a:ext cx="1643063" cy="28533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57613" y="1890713"/>
            <a:ext cx="1495425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벤처 기반 전문 브랜드 </a:t>
            </a:r>
            <a:endParaRPr lang="en-US" sz="1069" dirty="0"/>
          </a:p>
          <a:p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(그릭데이, 요즘, 룩트 등)</a:t>
            </a:r>
            <a:endParaRPr lang="en-US" sz="1069" dirty="0"/>
          </a:p>
          <a:p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 1. 용기형 패키지</a:t>
            </a:r>
            <a:endParaRPr lang="en-US" sz="1069" dirty="0"/>
          </a:p>
          <a:p>
            <a:pPr algn="ctr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저당 제품</a:t>
            </a:r>
            <a:endParaRPr lang="en-US" sz="1069" dirty="0"/>
          </a:p>
          <a:p>
            <a:pPr algn="ctr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높은 가격대</a:t>
            </a:r>
            <a:endParaRPr lang="en-US" sz="1069" dirty="0"/>
          </a:p>
          <a:p>
            <a:pPr algn="ctr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이동중 취식불가</a:t>
            </a:r>
            <a:endParaRPr lang="en-US" sz="1069" dirty="0"/>
          </a:p>
        </p:txBody>
      </p:sp>
      <p:sp>
        <p:nvSpPr>
          <p:cNvPr id="8" name="Text 5"/>
          <p:cNvSpPr/>
          <p:nvPr/>
        </p:nvSpPr>
        <p:spPr>
          <a:xfrm>
            <a:off x="5472113" y="1890713"/>
            <a:ext cx="1204913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그릭오</a:t>
            </a:r>
            <a:endParaRPr lang="en-US" sz="1069" dirty="0"/>
          </a:p>
          <a:p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올인원 패키지</a:t>
            </a:r>
            <a:endParaRPr lang="en-US" sz="1069" dirty="0"/>
          </a:p>
          <a:p>
            <a:pPr algn="ctr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파우치, 용기형</a:t>
            </a:r>
            <a:endParaRPr lang="en-US" sz="1069" dirty="0"/>
          </a:p>
          <a:p>
            <a:pPr algn="ctr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저당, 락토프리</a:t>
            </a:r>
            <a:endParaRPr lang="en-US" sz="1069" dirty="0"/>
          </a:p>
          <a:p>
            <a:pPr algn="ctr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중간 가격대</a:t>
            </a:r>
            <a:endParaRPr lang="en-US" sz="1069" dirty="0"/>
          </a:p>
          <a:p>
            <a:pPr algn="ctr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이동중 취식가능</a:t>
            </a:r>
            <a:endParaRPr lang="en-US" sz="1069" dirty="0"/>
          </a:p>
        </p:txBody>
      </p:sp>
      <p:sp>
        <p:nvSpPr>
          <p:cNvPr id="9" name="Text 6"/>
          <p:cNvSpPr/>
          <p:nvPr/>
        </p:nvSpPr>
        <p:spPr>
          <a:xfrm>
            <a:off x="7010400" y="1890713"/>
            <a:ext cx="1233488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대기업 브랜드 </a:t>
            </a:r>
            <a:endParaRPr lang="en-US" sz="1069" dirty="0"/>
          </a:p>
          <a:p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(풀무원, 다논 등)</a:t>
            </a:r>
            <a:endParaRPr lang="en-US" sz="1069" dirty="0"/>
          </a:p>
          <a:p>
            <a:pPr algn="ctr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용기형 패키지</a:t>
            </a:r>
            <a:endParaRPr lang="en-US" sz="1069" dirty="0"/>
          </a:p>
          <a:p>
            <a:pPr algn="ctr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당류 높음</a:t>
            </a:r>
            <a:endParaRPr lang="en-US" sz="1069" dirty="0"/>
          </a:p>
          <a:p>
            <a:pPr algn="ctr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낮은 가격대</a:t>
            </a:r>
            <a:endParaRPr lang="en-US" sz="1069" dirty="0"/>
          </a:p>
          <a:p>
            <a:pPr algn="ctr" marL="342900" indent="-342900">
              <a:lnSpc>
                <a:spcPts val="1453"/>
              </a:lnSpc>
              <a:buSzPct val="100000"/>
              <a:buFont typeface="+mj-lt"/>
              <a:buAutoNum type="arabicPeriod" startAt="1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이동중 취식불가</a:t>
            </a:r>
            <a:endParaRPr lang="en-US" sz="1069" dirty="0"/>
          </a:p>
        </p:txBody>
      </p:sp>
      <p:sp>
        <p:nvSpPr>
          <p:cNvPr id="10" name="Shape 7"/>
          <p:cNvSpPr/>
          <p:nvPr/>
        </p:nvSpPr>
        <p:spPr>
          <a:xfrm>
            <a:off x="609600" y="1945481"/>
            <a:ext cx="2667000" cy="1252538"/>
          </a:xfrm>
          <a:prstGeom prst="rect">
            <a:avLst/>
          </a:prstGeom>
          <a:noFill/>
          <a:ln/>
        </p:spPr>
      </p:sp>
      <p:sp>
        <p:nvSpPr>
          <p:cNvPr id="11" name="Text 8"/>
          <p:cNvSpPr/>
          <p:nvPr/>
        </p:nvSpPr>
        <p:spPr>
          <a:xfrm>
            <a:off x="609600" y="1945481"/>
            <a:ext cx="2667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경쟁사 분석 </a:t>
            </a:r>
            <a:endParaRPr lang="en-US" sz="171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(Competitor Analysis)</a:t>
            </a:r>
            <a:endParaRPr lang="en-US" sz="1710" dirty="0"/>
          </a:p>
        </p:txBody>
      </p:sp>
      <p:sp>
        <p:nvSpPr>
          <p:cNvPr id="12" name="Text 9"/>
          <p:cNvSpPr/>
          <p:nvPr/>
        </p:nvSpPr>
        <p:spPr>
          <a:xfrm>
            <a:off x="609600" y="2612231"/>
            <a:ext cx="266700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현재 국내 그릭요거트 시장은 '프리미엄 꾸덕 질감'의 전문 브랜드와 '가성비 대중화'의 대기업 제품으로 양극화되어 있습니다.
</a:t>
            </a:r>
            <a:endParaRPr lang="en-US" sz="106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차별화 전략 (Differentiation Strategy)
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347663" y="2009775"/>
            <a:ext cx="2105025" cy="23622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47663" y="2009775"/>
            <a:ext cx="2105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구조적 진입장벽 (Dual-Chamber Mechanism)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347663" y="2543175"/>
            <a:ext cx="210502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기존의 플라스틱 플립(꺾기) 컵 형태를 탈피하여, 파우치 내부에 요거트 룸(수분 차단)과 토핑 룸(산소 차단)을 물리적으로 분리한 '이지필(Easy-Peel) 약실링 독립 구조'를 채택함. 
</a:t>
            </a:r>
            <a:endParaRPr lang="en-US" sz="855" dirty="0"/>
          </a:p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취식 직전 상단을 꾹 눌러 터뜨려 섞는 구조로 토핑의 바삭함을 완벽히 보존하며, 대기업의 일반 액상 충진 라인으로는 카피가 불가능한 '고점도 전용 피스톤 충진 노즐' 공정 및 질소 치환(Gas Flushing) 기술을 적용해 독점적 구조를 확보함.
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3176588" y="2009775"/>
            <a:ext cx="2457450" cy="19050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3176588" y="2009775"/>
            <a:ext cx="2457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소재 및 ESG 진입장벽 (Sustainable Eco-Packaging)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176588" y="2543175"/>
            <a:ext cx="24574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순수 PLA의 열·수분 취약성을 보완하기 위해 '수성 코팅 배리어 종이 + 사탕수수 유래 생분해 PLA'를 다층 합지한 고차단성 필름을 사용해 유통기한(3~4주)을 확보함과 동시에 100% 생분해/재활용을 실현함. 
</a:t>
            </a:r>
            <a:endParaRPr lang="en-US" sz="855" dirty="0"/>
          </a:p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외부에 위생 개별 포장된 '천연 대나무 압착 슬림 스푼'을 일체형으로 빌트인하여 별도 식기나 쓰레기 배출을 제로화함.
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6357938" y="2009775"/>
            <a:ext cx="2433638" cy="114300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357938" y="2009775"/>
            <a:ext cx="24336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성분적 차별화 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(Lactose-Free Optimization)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6357938" y="2543175"/>
            <a:ext cx="243363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자체 유청 분리 공정(1차)과 효소 분리 공법(2차)을 결합하여 미량의 유당까지 철저히 차단한 100% 락토프리 스펙을 달성, 경쟁사 대비 '공복 아침 시장'에서 독점적인 소화 안전성을 제공함.</a:t>
            </a:r>
            <a:endParaRPr lang="en-US" sz="85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브랜드 콘셉트 (Brand Concept)</a:t>
            </a:r>
            <a:endParaRPr lang="en-US" sz="1710" dirty="0"/>
          </a:p>
        </p:txBody>
      </p:sp>
      <p:sp>
        <p:nvSpPr>
          <p:cNvPr id="3" name="Text 1"/>
          <p:cNvSpPr/>
          <p:nvPr/>
        </p:nvSpPr>
        <p:spPr>
          <a:xfrm>
            <a:off x="352425" y="1257300"/>
            <a:ext cx="843915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(대표회사): 테이스트 가든 (TASTE GARDEN) — "가장 깨끗한 원료로 빚어낸 감각적인 맛(TASTE)을 제공합니다."
</a:t>
            </a:r>
            <a:endParaRPr lang="en-US" sz="1283" dirty="0"/>
          </a:p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 (브랜드명): GREEK O (그릭오)
</a:t>
            </a:r>
            <a:endParaRPr lang="en-US" sz="1283" dirty="0"/>
          </a:p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브랜드 핵심 콘셉트 (The 3 'O' Mechanism):
</a:t>
            </a:r>
            <a:endParaRPr lang="en-US" sz="1283" dirty="0"/>
          </a:p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GREEK + All in One (O): </a:t>
            </a:r>
            <a:pPr algn="ctr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요거트, 생과일 퓨레, 견과류 토핑, 친환경 스푼을 한 팩에 담아 </a:t>
            </a:r>
            <a:endParaRPr lang="en-US" sz="1283" dirty="0"/>
          </a:p>
          <a:p>
            <a:pPr algn="ctr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30초 만에 끝내는 완벽한 아침 한 그릇.
</a:t>
            </a:r>
            <a:endParaRPr lang="en-US" sz="1283" dirty="0"/>
          </a:p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GREEK + ZERO (O): </a:t>
            </a:r>
            <a:pPr algn="ctr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락토프리로 공복 유당 걱정 ZERO, 다 먹은 후 접어서 버려 아침 설거지 ZERO.
</a:t>
            </a:r>
            <a:endParaRPr lang="en-US" sz="1283" dirty="0"/>
          </a:p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GREEK + Oh! (놀라움): </a:t>
            </a:r>
            <a:pPr algn="ctr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와이드 이지컷과 스탠딩 파우치 구조로 손에 묻지 않는 깔끔함에 터지는 감탄사.
</a:t>
            </a:r>
            <a:endParaRPr lang="en-US" sz="1283" dirty="0"/>
          </a:p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시그니처 슬로건</a:t>
            </a:r>
            <a:endParaRPr lang="en-US" sz="1283" dirty="0"/>
          </a:p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"GREEK O : 바쁜 아침 한 팩 쓱, 하루 공복 부담 없이 쏙."
</a:t>
            </a:r>
            <a:endParaRPr lang="en-US" sz="1283" dirty="0"/>
          </a:p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"Boost your Fresh Day, GREEK O"</a:t>
            </a:r>
            <a:endParaRPr lang="en-US" sz="128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309688"/>
            <a:ext cx="2438400" cy="21526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52800" y="1309688"/>
            <a:ext cx="2438400" cy="21526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96000" y="1309688"/>
            <a:ext cx="2438400" cy="21526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609600"/>
            <a:ext cx="75438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제품 라인업 : 용량 다변화를 통한 소비 형태(TPO) 침투 및 락인 전략</a:t>
            </a:r>
            <a:endParaRPr lang="en-US" sz="171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(Product Line-up)</a:t>
            </a:r>
            <a:endParaRPr lang="en-US" sz="1710" dirty="0"/>
          </a:p>
        </p:txBody>
      </p:sp>
      <p:sp>
        <p:nvSpPr>
          <p:cNvPr id="6" name="Shape 1"/>
          <p:cNvSpPr/>
          <p:nvPr/>
        </p:nvSpPr>
        <p:spPr>
          <a:xfrm>
            <a:off x="609600" y="3652838"/>
            <a:ext cx="2439987" cy="762000"/>
          </a:xfrm>
          <a:prstGeom prst="rect">
            <a:avLst/>
          </a:prstGeom>
          <a:noFill/>
          <a:ln/>
        </p:spPr>
      </p:sp>
      <p:sp>
        <p:nvSpPr>
          <p:cNvPr id="7" name="Text 2"/>
          <p:cNvSpPr/>
          <p:nvPr/>
        </p:nvSpPr>
        <p:spPr>
          <a:xfrm>
            <a:off x="609600" y="3652838"/>
            <a:ext cx="2439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120g (모닝 파우치)</a:t>
            </a:r>
            <a:endParaRPr lang="en-US" sz="1283" dirty="0"/>
          </a:p>
        </p:txBody>
      </p:sp>
      <p:sp>
        <p:nvSpPr>
          <p:cNvPr id="8" name="Text 3"/>
          <p:cNvSpPr/>
          <p:nvPr/>
        </p:nvSpPr>
        <p:spPr>
          <a:xfrm>
            <a:off x="609600" y="3957638"/>
            <a:ext cx="2439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직장·학교 등 아웃도어/데스크 취식 전용 올인원 패키지 (견과류 토핑 룸, 빌트인 스푼 포함). 최초 브랜드 경험 및 바이럴을 유도하는 킬러 콘텐츠</a:t>
            </a:r>
            <a:endParaRPr lang="en-US" sz="855" dirty="0"/>
          </a:p>
        </p:txBody>
      </p:sp>
      <p:sp>
        <p:nvSpPr>
          <p:cNvPr id="9" name="Shape 4"/>
          <p:cNvSpPr/>
          <p:nvPr/>
        </p:nvSpPr>
        <p:spPr>
          <a:xfrm>
            <a:off x="3354391" y="3652838"/>
            <a:ext cx="2439988" cy="609600"/>
          </a:xfrm>
          <a:prstGeom prst="rect">
            <a:avLst/>
          </a:prstGeom>
          <a:noFill/>
          <a:ln/>
        </p:spPr>
      </p:sp>
      <p:sp>
        <p:nvSpPr>
          <p:cNvPr id="10" name="Text 5"/>
          <p:cNvSpPr/>
          <p:nvPr/>
        </p:nvSpPr>
        <p:spPr>
          <a:xfrm>
            <a:off x="3354391" y="3652838"/>
            <a:ext cx="243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400g (홈트레이닝 팩)</a:t>
            </a:r>
            <a:endParaRPr lang="en-US" sz="1283" dirty="0"/>
          </a:p>
        </p:txBody>
      </p:sp>
      <p:sp>
        <p:nvSpPr>
          <p:cNvPr id="11" name="Text 6"/>
          <p:cNvSpPr/>
          <p:nvPr/>
        </p:nvSpPr>
        <p:spPr>
          <a:xfrm>
            <a:off x="3354391" y="3957638"/>
            <a:ext cx="24399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가정 내 안착을 위한 고용량 벌크팩 (토핑/스푼 제외한 순수 그릭요거트 단품)</a:t>
            </a:r>
            <a:endParaRPr lang="en-US" sz="855" dirty="0"/>
          </a:p>
        </p:txBody>
      </p:sp>
      <p:sp>
        <p:nvSpPr>
          <p:cNvPr id="12" name="Shape 7"/>
          <p:cNvSpPr/>
          <p:nvPr/>
        </p:nvSpPr>
        <p:spPr>
          <a:xfrm>
            <a:off x="6099172" y="3652838"/>
            <a:ext cx="2439988" cy="609600"/>
          </a:xfrm>
          <a:prstGeom prst="rect">
            <a:avLst/>
          </a:prstGeom>
          <a:noFill/>
          <a:ln/>
        </p:spPr>
      </p:sp>
      <p:sp>
        <p:nvSpPr>
          <p:cNvPr id="13" name="Text 8"/>
          <p:cNvSpPr/>
          <p:nvPr/>
        </p:nvSpPr>
        <p:spPr>
          <a:xfrm>
            <a:off x="6099172" y="3652838"/>
            <a:ext cx="243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800g (그릭 매니아 팩)</a:t>
            </a:r>
            <a:endParaRPr lang="en-US" sz="1283" dirty="0"/>
          </a:p>
        </p:txBody>
      </p:sp>
      <p:sp>
        <p:nvSpPr>
          <p:cNvPr id="14" name="Text 9"/>
          <p:cNvSpPr/>
          <p:nvPr/>
        </p:nvSpPr>
        <p:spPr>
          <a:xfrm>
            <a:off x="6099172" y="3957638"/>
            <a:ext cx="24399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주말 브런치 및 장기 식단 관리용 상비 식품으로 포지셔닝하여 지속적인 반복 구매 유도.</a:t>
            </a:r>
            <a:endParaRPr lang="en-US" sz="85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309688"/>
            <a:ext cx="3810000" cy="21526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24400" y="1309688"/>
            <a:ext cx="3810000" cy="21526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마진 극대화 및 재고 리스크 최소화를 위한 모듈화 전략(Modularization) </a:t>
            </a:r>
            <a:endParaRPr lang="en-US" sz="1710" dirty="0"/>
          </a:p>
        </p:txBody>
      </p:sp>
      <p:sp>
        <p:nvSpPr>
          <p:cNvPr id="5" name="Shape 1"/>
          <p:cNvSpPr/>
          <p:nvPr/>
        </p:nvSpPr>
        <p:spPr>
          <a:xfrm>
            <a:off x="609600" y="3652838"/>
            <a:ext cx="3810000" cy="914400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609600" y="3652838"/>
            <a:ext cx="381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과일 혼합 요거트의 고질적 문제인 '과발효로 인한 유청 분리 현상' 및 '짧은 유통기한' 리스크를 방어하기 위해 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베이스(순수 그릭)와 토핑(저당 생과일 퓨레 스틱) 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라인을 철저히 이원화.
</a:t>
            </a:r>
            <a:endParaRPr lang="en-US" sz="1283" dirty="0"/>
          </a:p>
        </p:txBody>
      </p:sp>
      <p:sp>
        <p:nvSpPr>
          <p:cNvPr id="7" name="Shape 3"/>
          <p:cNvSpPr/>
          <p:nvPr/>
        </p:nvSpPr>
        <p:spPr>
          <a:xfrm>
            <a:off x="4724400" y="3652838"/>
            <a:ext cx="3810000" cy="914400"/>
          </a:xfrm>
          <a:prstGeom prst="rect">
            <a:avLst/>
          </a:prstGeom>
          <a:noFill/>
          <a:ln/>
        </p:spPr>
      </p:sp>
      <p:sp>
        <p:nvSpPr>
          <p:cNvPr id="8" name="Text 4"/>
          <p:cNvSpPr/>
          <p:nvPr/>
        </p:nvSpPr>
        <p:spPr>
          <a:xfrm>
            <a:off x="4724400" y="3652838"/>
            <a:ext cx="381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멸균 포장된 과일 퓨레 스틱을 소비자가 직접 조립(DIY)하게 함으로써 생산 공정을 단순화하고, 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단품 외 추가 옵션 구매를 유도하여 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1인당 구매 객단가(AOV)를 혁신적으로 방어.</a:t>
            </a:r>
            <a:endParaRPr lang="en-US" sz="128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62700" y="609600"/>
            <a:ext cx="2054228" cy="421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925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앱 기반 서비스 구조 (D2C Application)</a:t>
            </a:r>
            <a:endParaRPr lang="en-US" sz="1710" dirty="0"/>
          </a:p>
        </p:txBody>
      </p:sp>
      <p:sp>
        <p:nvSpPr>
          <p:cNvPr id="4" name="Shape 1"/>
          <p:cNvSpPr/>
          <p:nvPr/>
        </p:nvSpPr>
        <p:spPr>
          <a:xfrm>
            <a:off x="542925" y="1576388"/>
            <a:ext cx="2439987" cy="914400"/>
          </a:xfrm>
          <a:prstGeom prst="rect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542925" y="1576388"/>
            <a:ext cx="2439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D2C 전용 애플리케이션 구축</a:t>
            </a:r>
            <a:endParaRPr lang="en-US" sz="1283" dirty="0"/>
          </a:p>
        </p:txBody>
      </p:sp>
      <p:sp>
        <p:nvSpPr>
          <p:cNvPr id="6" name="Text 3"/>
          <p:cNvSpPr/>
          <p:nvPr/>
        </p:nvSpPr>
        <p:spPr>
          <a:xfrm>
            <a:off x="542925" y="1881187"/>
            <a:ext cx="243998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9"/>
              </a:lnSpc>
              <a:buNone/>
            </a:pPr>
            <a:r>
              <a:rPr lang="en-US" sz="855" spc="-1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유통기한이 짧고 폐기 리스크가 큰 신선식품의 한계를 극복하기 위해, 단발성 이커머스 거래가 아닌 </a:t>
            </a:r>
            <a:endParaRPr lang="en-US" sz="855" dirty="0"/>
          </a:p>
          <a:p>
            <a:pPr algn="l" indent="0" marL="0">
              <a:lnSpc>
                <a:spcPts val="1129"/>
              </a:lnSpc>
              <a:buNone/>
            </a:pPr>
            <a:r>
              <a:rPr lang="en-US" sz="855" spc="-1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[유연한 구독(Flexible Subscription)] 인프라를 </a:t>
            </a:r>
            <a:endParaRPr lang="en-US" sz="855" dirty="0"/>
          </a:p>
          <a:p>
            <a:pPr algn="l" indent="0" marL="0">
              <a:lnSpc>
                <a:spcPts val="1129"/>
              </a:lnSpc>
              <a:buNone/>
            </a:pPr>
            <a:r>
              <a:rPr lang="en-US" sz="855" spc="-1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앱을 통해 직접 제공함.</a:t>
            </a:r>
            <a:endParaRPr lang="en-US" sz="855" dirty="0"/>
          </a:p>
        </p:txBody>
      </p:sp>
      <p:sp>
        <p:nvSpPr>
          <p:cNvPr id="7" name="Shape 4"/>
          <p:cNvSpPr/>
          <p:nvPr/>
        </p:nvSpPr>
        <p:spPr>
          <a:xfrm>
            <a:off x="542925" y="3314700"/>
            <a:ext cx="2566988" cy="1090613"/>
          </a:xfrm>
          <a:prstGeom prst="rect">
            <a:avLst/>
          </a:prstGeom>
          <a:noFill/>
          <a:ln/>
        </p:spPr>
      </p:sp>
      <p:sp>
        <p:nvSpPr>
          <p:cNvPr id="8" name="Text 5"/>
          <p:cNvSpPr/>
          <p:nvPr/>
        </p:nvSpPr>
        <p:spPr>
          <a:xfrm>
            <a:off x="542925" y="3314700"/>
            <a:ext cx="2566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앱 핵심 기능 및 락인(Lock-in) 장치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542925" y="3619500"/>
            <a:ext cx="2566988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855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초개인화 모듈형 구독: 소비자가 자신의 취식 주기(위클리/격주)에 맞춰 배송 일정을 자유롭게 변경 및 일시 정지할 수 있으며, 매회 차마다 베이스 요거트 용량 및 퓨레 스틱(딸기/블루베리/망고) 옵션을 자유롭게 커스텀 조립(DIY)할 수 있는 유연성 제공.</a:t>
            </a:r>
            <a:endParaRPr lang="en-US" sz="855" dirty="0"/>
          </a:p>
        </p:txBody>
      </p:sp>
      <p:sp>
        <p:nvSpPr>
          <p:cNvPr id="10" name="Shape 7"/>
          <p:cNvSpPr/>
          <p:nvPr/>
        </p:nvSpPr>
        <p:spPr>
          <a:xfrm>
            <a:off x="3443288" y="2185988"/>
            <a:ext cx="2439988" cy="1247775"/>
          </a:xfrm>
          <a:prstGeom prst="rect">
            <a:avLst/>
          </a:prstGeom>
          <a:noFill/>
          <a:ln/>
        </p:spPr>
      </p:sp>
      <p:sp>
        <p:nvSpPr>
          <p:cNvPr id="11" name="Text 8"/>
          <p:cNvSpPr/>
          <p:nvPr/>
        </p:nvSpPr>
        <p:spPr>
          <a:xfrm>
            <a:off x="3443288" y="2185988"/>
            <a:ext cx="243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비즈니스적 효과</a:t>
            </a:r>
            <a:endParaRPr lang="en-US" sz="1283" dirty="0"/>
          </a:p>
        </p:txBody>
      </p:sp>
      <p:sp>
        <p:nvSpPr>
          <p:cNvPr id="12" name="Text 9"/>
          <p:cNvSpPr/>
          <p:nvPr/>
        </p:nvSpPr>
        <p:spPr>
          <a:xfrm>
            <a:off x="3443288" y="2490788"/>
            <a:ext cx="2439988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855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정기 구독 고객의 재구매율은 일반 고객 대비 평균 3~5배 높음. 이를 통해 전체 매출의 20% 이상을 안정적인 고정 매출로 확보함.
사전 수요 예측 알고리즘을 통한 생산량 조절로 유제품 폐기 재고율을 획기적으로 감축하고, 외부 유통 플랫폼 수수료 부담을 최소화하여 영업이익률을 극대화함.</a:t>
            </a:r>
            <a:endParaRPr lang="en-US" sz="85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295525"/>
            <a:ext cx="2286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수익 모델 </a:t>
            </a:r>
            <a:endParaRPr lang="en-US" sz="1710" dirty="0"/>
          </a:p>
          <a:p>
            <a:pPr algn="ctr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(Revenue Model)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3390900" y="1147763"/>
            <a:ext cx="2324100" cy="14478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390900" y="1147763"/>
            <a:ext cx="232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유통 채널별 다각화 전략 (Channel Mix)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3390900" y="1681163"/>
            <a:ext cx="23241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자사몰 및 D2C 앱 (메인 수익원): 플랫폼 수수료를 0%대로 절감(결제 수수료 제외)하여 최대 마진율(60~65% 예상) 확보. '초개인화 모듈형 정기 구독' 서비스를 연계하여 지속적인 현금 흐름 및 록인(Lock-in) 효과 창출.
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3390900" y="2695575"/>
            <a:ext cx="2324100" cy="12954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3390900" y="2695575"/>
            <a:ext cx="232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쿠팡(로켓프레시) 및 마켓컬리 (볼륨 확장 채널)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390900" y="3228975"/>
            <a:ext cx="2324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바쁜 아침 갓생족의 주 구매 경로인 새벽배송 시장 선점. 다소 높은 수수료율(약 30~40% 선)에도 불구하고, 압도적인 판매량(Volume) 확대를 통한 대량 생산 및 원가 절감(Scale of Economy) 실현을 위한 핵심 채널로 활용.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6210300" y="390525"/>
            <a:ext cx="2324100" cy="114300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210300" y="390525"/>
            <a:ext cx="232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네이버 브랜드스토어 및 오픈마켓 (G마켓/옥션 등)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6210300" y="923925"/>
            <a:ext cx="2324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최저가 비교 및 직관적 검색 유입 타깃. 네이버 플러스 멤버십 등 생태계 유저를 흡수하고, 상대적으로 저렴한 수수료(오픈마켓 평균 10~15%, 네이버 스토어 2~5%)를 통해 완충 마진 확보.</a:t>
            </a:r>
            <a:endParaRPr lang="en-US" sz="855" dirty="0"/>
          </a:p>
        </p:txBody>
      </p:sp>
      <p:sp>
        <p:nvSpPr>
          <p:cNvPr id="12" name="Shape 10"/>
          <p:cNvSpPr/>
          <p:nvPr/>
        </p:nvSpPr>
        <p:spPr>
          <a:xfrm>
            <a:off x="6210300" y="1938337"/>
            <a:ext cx="2324100" cy="1295400"/>
          </a:xfrm>
          <a:prstGeom prst="rect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6210300" y="1938337"/>
            <a:ext cx="232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원가 및 마진 구조 시뮬레이션 (Target Costing)</a:t>
            </a:r>
            <a:endParaRPr lang="en-US" sz="1283" dirty="0"/>
          </a:p>
        </p:txBody>
      </p:sp>
      <p:sp>
        <p:nvSpPr>
          <p:cNvPr id="14" name="Text 12"/>
          <p:cNvSpPr/>
          <p:nvPr/>
        </p:nvSpPr>
        <p:spPr>
          <a:xfrm>
            <a:off x="6210300" y="2471738"/>
            <a:ext cx="2324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목표 소비자가 (120g 모닝 파우치 기준): 시장 프리미엄 그릭요거트(3,900원)와 편의점 대용식(3,000원 선)의 타협점인 3,500원~3,800원 선 책정. (성분과 편의성을 모두 잡은 올인원 대안재로서 가격 저항감 최소화)</a:t>
            </a:r>
            <a:endParaRPr lang="en-US" sz="855" dirty="0"/>
          </a:p>
        </p:txBody>
      </p:sp>
      <p:sp>
        <p:nvSpPr>
          <p:cNvPr id="15" name="Text 13"/>
          <p:cNvSpPr/>
          <p:nvPr/>
        </p:nvSpPr>
        <p:spPr>
          <a:xfrm>
            <a:off x="6210300" y="363855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목표 공헌이익률</a:t>
            </a:r>
            <a:endParaRPr lang="en-US" sz="1283" dirty="0"/>
          </a:p>
        </p:txBody>
      </p:sp>
      <p:sp>
        <p:nvSpPr>
          <p:cNvPr id="16" name="Text 14"/>
          <p:cNvSpPr/>
          <p:nvPr/>
        </p:nvSpPr>
        <p:spPr>
          <a:xfrm>
            <a:off x="6210300" y="3867150"/>
            <a:ext cx="2324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제조원가(원유, 과일 퓨레, 토핑, 특수 파우치 패키징) 및 물류비를 고려하여 전체 채널 평균 공헌이익률 50% 이상 방어를 목표로 프로세스 최적화 진행.</a:t>
            </a:r>
            <a:endParaRPr lang="en-US" sz="85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0250" y="2228850"/>
            <a:ext cx="5143500" cy="6858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2000250" y="2228850"/>
            <a:ext cx="5143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"Boost your Fresh Day, GREEK O"</a:t>
            </a:r>
            <a:endParaRPr lang="en-US" sz="2138" dirty="0"/>
          </a:p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감사합니다.</a:t>
            </a:r>
            <a:endParaRPr lang="en-US" sz="213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2026-06-25T07:24:59Z</dcterms:created>
  <dcterms:modified xsi:type="dcterms:W3CDTF">2026-06-25T07:24:59Z</dcterms:modified>
</cp:coreProperties>
</file>